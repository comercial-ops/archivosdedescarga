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33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765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de orador:</a:t>
            </a:r>
          </a:p>
          <a:p>
            <a:r>
              <a:t>- Preséntese como un profesional híbrido de élite: Ingeniero de Telecomunicaciones con postgrados y MBA de UT Austin, lo que le permite hablar tanto el lenguaje técnico de los técnicos e ingenieros de campo, como el lenguaje financiero y operativo de los directores de compras y gerentes de operaciones.</a:t>
            </a:r>
          </a:p>
          <a:p>
            <a:r>
              <a:t>- Destaque que esta presentación es su credencial como Entrenador de Fibra Óptica listo para elevar los estándares operacionales y de medición de cualquier organización.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de orador:</a:t>
            </a:r>
          </a:p>
          <a:p>
            <a:r>
              <a:t>- Resalte que su perfil combina ingeniería pura de telecomunicaciones (UPB) y estrategia de alta dirección (MBA UT Austin).</a:t>
            </a:r>
          </a:p>
          <a:p>
            <a:r>
              <a:t>- Explique cómo esta combinación le permite diseñar entrenamientos que no solo enseñan a oprimir botones en un equipo, sino que estructuran una cultura de trabajo que impacta positivamente el OPEX del cliente.</a:t>
            </a:r>
          </a:p>
          <a:p>
            <a:r>
              <a:t>- La capacitación de personal técnico comúnmente carece de visión de procesos o negocios; su enfoque rompe ese paradigma.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de orador:</a:t>
            </a:r>
          </a:p>
          <a:p>
            <a:r>
              <a:t>- Demuestre su reconocimiento en el mercado: es ampliamente conocido por haber trabajado directamente de la mano con las marcas líderes de instrumentación.</a:t>
            </a:r>
          </a:p>
          <a:p>
            <a:r>
              <a:t>- VIAVI (antes JDSU), EXFO y Grandway representan los tres pilares del mercado: medición premium, empalme de alta precisión y herramientas portátiles de volumen. Usted tiene el dominio absoluto de las tres marcas.</a:t>
            </a:r>
          </a:p>
          <a:p>
            <a:r>
              <a:t>- Mencione el Global Distribution Award recibido de VIAVI como una prueba verificable de su rendimiento regional óptimo.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de orador:</a:t>
            </a:r>
          </a:p>
          <a:p>
            <a:r>
              <a:t>- Este es un punto de diferenciación gigantesco. Usted no solo es un usuario de la tecnología, ¡es su co-creador!</a:t>
            </a:r>
          </a:p>
          <a:p>
            <a:r>
              <a:t>- Cuente brevemente la anécdota del co-diseño con Jimmy Gagnon de EXFO. El objetivo era simplificar el OTDR para que un operario de campo básico pudiera diagnosticar con la precisión de un PhD en fibra óptica.</a:t>
            </a:r>
          </a:p>
          <a:p>
            <a:r>
              <a:t>- iOLM (intelligent Optical Link Mapper) hoy en día es un estándar indiscutible en la industria de telecomunicaciones. Su profunda familiaridad con su concepción teórica y algoritmos le permite enseñar el uso del iOLM a nivel de ingeniería interna.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de orador:</a:t>
            </a:r>
          </a:p>
          <a:p>
            <a:r>
              <a:t>- Demuestre su capacidad didáctica formal: ser un excelente ingeniero no garantiza ser un buen profesor. Usted tiene la trayectoria académica certificada por la prestigiosa Universidad Pontificia Bolivariana.</a:t>
            </a:r>
          </a:p>
          <a:p>
            <a:r>
              <a:t>- Detalle que el Diplomado de Fibra Óptica de la UPB ha graduado a más de 150 ingenieros, directores e instaladores que hoy lideran operaciones de FTTx en el país.</a:t>
            </a:r>
          </a:p>
          <a:p>
            <a:r>
              <a:t>- Sus cursos de capacitación corporativa se adaptan a las necesidades del cliente, logrando que el personal asimile los contenidos rápidamente debido a su método altamente práctico.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de orador:</a:t>
            </a:r>
          </a:p>
          <a:p>
            <a:r>
              <a:t>- Presente este portafolio como un menú flexible para la empresa contratante. Puede empaquetarse en talleres cortos de 8 horas, diplomados completos de 120 horas o consultorías enfocadas.</a:t>
            </a:r>
          </a:p>
          <a:p>
            <a:r>
              <a:t>- Resalte que el entrenamiento en iOLM es único en LATAM debido a su participación en el co-diseño del mismo.</a:t>
            </a:r>
          </a:p>
          <a:p>
            <a:r>
              <a:t>- Los talleres se enfocan en las marcas predilectas de la organización (EXFO, VIAVI o Grandway), garantizando que utilicen al 100% el hardware que ya tienen disponible.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de orador:</a:t>
            </a:r>
          </a:p>
          <a:p>
            <a:r>
              <a:t>- Este es el cierre estratégico. Venda la capacitación técnica no como un gasto, sino como una inversión de altísimo retorno.</a:t>
            </a:r>
          </a:p>
          <a:p>
            <a:r>
              <a:t>- Explique que las tres garantías se traducen directamente en retornos operacionales tangibles:</a:t>
            </a:r>
          </a:p>
          <a:p>
            <a:r>
              <a:t>  1) Cero errores: Menos cuadrillas enviadas por segunda vez por un falso diagnóstico.</a:t>
            </a:r>
          </a:p>
          <a:p>
            <a:r>
              <a:t>  2) Tiempos un 30% más rápidos: Más enlaces de fibra entregados e instalados por día.</a:t>
            </a:r>
          </a:p>
          <a:p>
            <a:r>
              <a:t>  3) Protección de activos: Menor necesidad de calibración o costosas reparaciones en puertos de OTDRs o fusionadoras por un mal manejo.</a:t>
            </a:r>
          </a:p>
          <a:p>
            <a:r>
              <a:t>- Invite a la empresa a agendar una sesión inicial de diagnóstico sin costo para evaluar el nivel de su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4256BE99-41C2-D26A-A234-5C563317329F}"/>
              </a:ext>
            </a:extLst>
          </p:cNvPr>
          <p:cNvSpPr/>
          <p:nvPr/>
        </p:nvSpPr>
        <p:spPr>
          <a:xfrm>
            <a:off x="6739156" y="67285"/>
            <a:ext cx="5452844" cy="677364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1" y="1645920"/>
            <a:ext cx="5857701" cy="39857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E05A10"/>
                </a:solidFill>
                <a:latin typeface="Arial"/>
              </a:defRPr>
            </a:pPr>
            <a:r>
              <a:rPr dirty="0">
                <a:solidFill>
                  <a:schemeClr val="bg2"/>
                </a:solidFill>
              </a:rPr>
              <a:t>TRAINER PROFILE &amp; COMMERCIAL PORTFOLIO</a:t>
            </a:r>
          </a:p>
          <a:p>
            <a:pPr>
              <a:spcAft>
                <a:spcPts val="400"/>
              </a:spcAft>
              <a:defRPr sz="5400" b="1">
                <a:solidFill>
                  <a:srgbClr val="FFFFFF"/>
                </a:solidFill>
                <a:latin typeface="Georgia"/>
              </a:defRPr>
            </a:pPr>
            <a:r>
              <a:rPr dirty="0"/>
              <a:t>CAMILO RESTREPO</a:t>
            </a:r>
          </a:p>
          <a:p>
            <a:pPr>
              <a:spcAft>
                <a:spcPts val="1800"/>
              </a:spcAft>
              <a:defRPr sz="2400">
                <a:solidFill>
                  <a:srgbClr val="FDF2E6"/>
                </a:solidFill>
                <a:latin typeface="Georgia"/>
              </a:defRPr>
            </a:pPr>
            <a:r>
              <a:rPr dirty="0" err="1"/>
              <a:t>Experto</a:t>
            </a:r>
            <a:r>
              <a:rPr dirty="0"/>
              <a:t> e Instructor Regional </a:t>
            </a:r>
            <a:r>
              <a:rPr dirty="0" err="1"/>
              <a:t>en</a:t>
            </a:r>
            <a:r>
              <a:rPr dirty="0"/>
              <a:t> Fibra </a:t>
            </a:r>
            <a:r>
              <a:rPr dirty="0" err="1"/>
              <a:t>Óptica</a:t>
            </a:r>
            <a:endParaRPr dirty="0"/>
          </a:p>
          <a:p>
            <a:pPr>
              <a:spcAft>
                <a:spcPts val="0"/>
              </a:spcAft>
              <a:defRPr sz="1500">
                <a:solidFill>
                  <a:srgbClr val="BEC8DC"/>
                </a:solidFill>
                <a:latin typeface="Arial"/>
              </a:defRPr>
            </a:pPr>
            <a:r>
              <a:rPr dirty="0" err="1"/>
              <a:t>Sólida</a:t>
            </a:r>
            <a:r>
              <a:rPr dirty="0"/>
              <a:t> </a:t>
            </a:r>
            <a:r>
              <a:rPr dirty="0" err="1"/>
              <a:t>trayectoria</a:t>
            </a:r>
            <a:r>
              <a:rPr dirty="0"/>
              <a:t> de 15+ </a:t>
            </a:r>
            <a:r>
              <a:rPr dirty="0" err="1"/>
              <a:t>años</a:t>
            </a:r>
            <a:r>
              <a:rPr dirty="0"/>
              <a:t> </a:t>
            </a:r>
            <a:r>
              <a:rPr dirty="0" err="1"/>
              <a:t>uniendo</a:t>
            </a:r>
            <a:r>
              <a:rPr dirty="0"/>
              <a:t> </a:t>
            </a:r>
            <a:r>
              <a:rPr dirty="0" err="1"/>
              <a:t>instrumentación</a:t>
            </a:r>
            <a:r>
              <a:rPr dirty="0"/>
              <a:t> de campo </a:t>
            </a:r>
            <a:r>
              <a:rPr dirty="0" err="1"/>
              <a:t>avanzada</a:t>
            </a:r>
            <a:r>
              <a:rPr dirty="0"/>
              <a:t> (EXFO, VIAVI, </a:t>
            </a:r>
            <a:r>
              <a:rPr dirty="0" err="1"/>
              <a:t>Grandway</a:t>
            </a:r>
            <a:r>
              <a:rPr dirty="0"/>
              <a:t>), el co-</a:t>
            </a:r>
            <a:r>
              <a:rPr dirty="0" err="1"/>
              <a:t>diseño</a:t>
            </a:r>
            <a:r>
              <a:rPr dirty="0"/>
              <a:t> </a:t>
            </a:r>
            <a:r>
              <a:rPr dirty="0" err="1"/>
              <a:t>tecnológico</a:t>
            </a:r>
            <a:r>
              <a:rPr dirty="0"/>
              <a:t> de </a:t>
            </a:r>
            <a:r>
              <a:rPr dirty="0" err="1"/>
              <a:t>iOLM</a:t>
            </a:r>
            <a:r>
              <a:rPr dirty="0"/>
              <a:t> y la </a:t>
            </a:r>
            <a:r>
              <a:rPr dirty="0" err="1"/>
              <a:t>dirección</a:t>
            </a:r>
            <a:r>
              <a:rPr dirty="0"/>
              <a:t> </a:t>
            </a:r>
            <a:r>
              <a:rPr dirty="0" err="1"/>
              <a:t>académica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UPB Medellín para </a:t>
            </a:r>
            <a:r>
              <a:rPr dirty="0" err="1"/>
              <a:t>capacitar</a:t>
            </a:r>
            <a:r>
              <a:rPr dirty="0"/>
              <a:t> 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operadores</a:t>
            </a:r>
            <a:r>
              <a:rPr dirty="0"/>
              <a:t> de </a:t>
            </a:r>
            <a:r>
              <a:rPr dirty="0" err="1"/>
              <a:t>telecomunicaciones</a:t>
            </a:r>
            <a:r>
              <a:rPr dirty="0"/>
              <a:t> de América Latina.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365760"/>
            <a:ext cx="10820095" cy="995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05A10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PERFIL E INGENIERÍA</a:t>
            </a:r>
          </a:p>
          <a:p>
            <a:pPr>
              <a:defRPr sz="2600" b="1">
                <a:solidFill>
                  <a:srgbClr val="1E2229"/>
                </a:solidFill>
                <a:latin typeface="Georgia"/>
              </a:defRPr>
            </a:pPr>
            <a:r>
              <a:rPr dirty="0"/>
              <a:t>15+ </a:t>
            </a:r>
            <a:r>
              <a:rPr dirty="0" err="1"/>
              <a:t>años</a:t>
            </a:r>
            <a:r>
              <a:rPr dirty="0"/>
              <a:t> de </a:t>
            </a:r>
            <a:r>
              <a:rPr dirty="0" err="1"/>
              <a:t>trayectoria</a:t>
            </a:r>
            <a:r>
              <a:rPr dirty="0"/>
              <a:t> </a:t>
            </a:r>
            <a:r>
              <a:rPr dirty="0" err="1"/>
              <a:t>integran</a:t>
            </a:r>
            <a:r>
              <a:rPr dirty="0"/>
              <a:t> </a:t>
            </a:r>
            <a:r>
              <a:rPr dirty="0" err="1"/>
              <a:t>ingeniería</a:t>
            </a:r>
            <a:r>
              <a:rPr dirty="0"/>
              <a:t> </a:t>
            </a:r>
            <a:r>
              <a:rPr dirty="0" err="1"/>
              <a:t>óptica</a:t>
            </a:r>
            <a:r>
              <a:rPr dirty="0"/>
              <a:t> </a:t>
            </a:r>
            <a:r>
              <a:rPr dirty="0" err="1"/>
              <a:t>avanzada</a:t>
            </a:r>
            <a:r>
              <a:rPr dirty="0"/>
              <a:t> y </a:t>
            </a:r>
            <a:r>
              <a:rPr dirty="0" err="1"/>
              <a:t>estrategia</a:t>
            </a:r>
            <a:r>
              <a:rPr dirty="0"/>
              <a:t> comercial </a:t>
            </a:r>
            <a:r>
              <a:rPr dirty="0" err="1"/>
              <a:t>en</a:t>
            </a:r>
            <a:r>
              <a:rPr dirty="0"/>
              <a:t> LATAM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E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120640" cy="3647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E05A10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FORMACIÓN QUE SUSTENTA EL CONOCIMIENTO</a:t>
            </a:r>
          </a:p>
          <a:p>
            <a:pPr>
              <a:spcAft>
                <a:spcPts val="200"/>
              </a:spcAft>
              <a:defRPr sz="1600" b="1">
                <a:solidFill>
                  <a:srgbClr val="1A365D"/>
                </a:solidFill>
                <a:latin typeface="Georgia"/>
              </a:defRPr>
            </a:pPr>
            <a:r>
              <a:rPr dirty="0"/>
              <a:t>• </a:t>
            </a:r>
            <a:r>
              <a:rPr dirty="0" err="1"/>
              <a:t>Ingeniero</a:t>
            </a:r>
            <a:r>
              <a:rPr dirty="0"/>
              <a:t> </a:t>
            </a:r>
            <a:r>
              <a:rPr dirty="0" err="1"/>
              <a:t>Electrónico</a:t>
            </a:r>
            <a:r>
              <a:rPr dirty="0"/>
              <a:t> y </a:t>
            </a:r>
            <a:r>
              <a:rPr dirty="0" err="1"/>
              <a:t>Especialista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Telecomunicaciones</a:t>
            </a:r>
          </a:p>
          <a:p>
            <a:pPr>
              <a:spcAft>
                <a:spcPts val="1200"/>
              </a:spcAft>
              <a:defRPr sz="1400">
                <a:solidFill>
                  <a:srgbClr val="1E2229"/>
                </a:solidFill>
                <a:latin typeface="Arial"/>
              </a:defRPr>
            </a:pPr>
            <a:r>
              <a:rPr dirty="0" err="1"/>
              <a:t>Graduado</a:t>
            </a:r>
            <a:r>
              <a:rPr dirty="0"/>
              <a:t> de la Universidad Pontificia </a:t>
            </a:r>
            <a:r>
              <a:rPr dirty="0" err="1"/>
              <a:t>Bolivariana</a:t>
            </a:r>
            <a:r>
              <a:rPr dirty="0"/>
              <a:t> (UPB). </a:t>
            </a:r>
            <a:r>
              <a:rPr dirty="0" err="1"/>
              <a:t>Sólida</a:t>
            </a:r>
            <a:r>
              <a:rPr dirty="0"/>
              <a:t> </a:t>
            </a:r>
            <a:r>
              <a:rPr dirty="0" err="1"/>
              <a:t>formación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ondas</a:t>
            </a:r>
            <a:r>
              <a:rPr dirty="0"/>
              <a:t> </a:t>
            </a:r>
            <a:r>
              <a:rPr dirty="0" err="1"/>
              <a:t>electromagnéticas</a:t>
            </a:r>
            <a:r>
              <a:rPr dirty="0"/>
              <a:t>, </a:t>
            </a:r>
            <a:r>
              <a:rPr dirty="0" err="1"/>
              <a:t>propagación</a:t>
            </a:r>
            <a:r>
              <a:rPr dirty="0"/>
              <a:t> </a:t>
            </a:r>
            <a:r>
              <a:rPr dirty="0" err="1"/>
              <a:t>óptica</a:t>
            </a:r>
            <a:r>
              <a:rPr dirty="0"/>
              <a:t> y </a:t>
            </a:r>
            <a:r>
              <a:rPr dirty="0" err="1"/>
              <a:t>física</a:t>
            </a:r>
            <a:r>
              <a:rPr dirty="0"/>
              <a:t> de la </a:t>
            </a:r>
            <a:r>
              <a:rPr dirty="0" err="1"/>
              <a:t>fibra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600" b="1">
                <a:solidFill>
                  <a:srgbClr val="1A365D"/>
                </a:solidFill>
                <a:latin typeface="Georgia"/>
              </a:defRPr>
            </a:pPr>
            <a:r>
              <a:rPr dirty="0"/>
              <a:t>• Master of Business Administration (MBA)</a:t>
            </a:r>
          </a:p>
          <a:p>
            <a:pPr>
              <a:spcAft>
                <a:spcPts val="1200"/>
              </a:spcAft>
              <a:defRPr sz="1400">
                <a:solidFill>
                  <a:srgbClr val="1E2229"/>
                </a:solidFill>
                <a:latin typeface="Arial"/>
              </a:defRPr>
            </a:pPr>
            <a:r>
              <a:rPr dirty="0"/>
              <a:t>McCombs School of Business, The University of Texas at Austin. </a:t>
            </a:r>
            <a:r>
              <a:rPr dirty="0" err="1"/>
              <a:t>Enfoque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gerencia</a:t>
            </a:r>
            <a:r>
              <a:rPr dirty="0"/>
              <a:t> global, </a:t>
            </a:r>
            <a:r>
              <a:rPr dirty="0" err="1"/>
              <a:t>escalabilidad</a:t>
            </a:r>
            <a:r>
              <a:rPr dirty="0"/>
              <a:t> y </a:t>
            </a:r>
            <a:r>
              <a:rPr dirty="0" err="1"/>
              <a:t>toma</a:t>
            </a:r>
            <a:r>
              <a:rPr dirty="0"/>
              <a:t> de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basadas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métricas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600" b="1">
                <a:solidFill>
                  <a:srgbClr val="1A365D"/>
                </a:solidFill>
                <a:latin typeface="Georgia"/>
              </a:defRPr>
            </a:pPr>
            <a:r>
              <a:rPr dirty="0"/>
              <a:t>• </a:t>
            </a:r>
            <a:r>
              <a:rPr dirty="0" err="1"/>
              <a:t>Especialista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Gerencia de </a:t>
            </a:r>
            <a:r>
              <a:rPr dirty="0" err="1"/>
              <a:t>Mercadeo</a:t>
            </a:r>
            <a:endParaRPr dirty="0"/>
          </a:p>
          <a:p>
            <a:pPr>
              <a:spcAft>
                <a:spcPts val="0"/>
              </a:spcAft>
              <a:defRPr sz="1400">
                <a:solidFill>
                  <a:srgbClr val="1E2229"/>
                </a:solidFill>
                <a:latin typeface="Arial"/>
              </a:defRPr>
            </a:pPr>
            <a:r>
              <a:rPr dirty="0"/>
              <a:t>CEIPA. </a:t>
            </a:r>
            <a:r>
              <a:rPr dirty="0" err="1"/>
              <a:t>Formación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estructuración</a:t>
            </a:r>
            <a:r>
              <a:rPr dirty="0"/>
              <a:t> comercial, </a:t>
            </a:r>
            <a:r>
              <a:rPr dirty="0" err="1"/>
              <a:t>desarrollo</a:t>
            </a:r>
            <a:r>
              <a:rPr dirty="0"/>
              <a:t> de mercados y </a:t>
            </a:r>
            <a:r>
              <a:rPr dirty="0" err="1"/>
              <a:t>traducción</a:t>
            </a:r>
            <a:r>
              <a:rPr dirty="0"/>
              <a:t> de </a:t>
            </a:r>
            <a:r>
              <a:rPr dirty="0" err="1"/>
              <a:t>beneficios</a:t>
            </a:r>
            <a:r>
              <a:rPr dirty="0"/>
              <a:t> </a:t>
            </a:r>
            <a:r>
              <a:rPr dirty="0" err="1"/>
              <a:t>tecnológicos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retornos</a:t>
            </a:r>
            <a:r>
              <a:rPr dirty="0"/>
              <a:t> </a:t>
            </a:r>
            <a:r>
              <a:rPr dirty="0" err="1"/>
              <a:t>financieros</a:t>
            </a:r>
            <a:r>
              <a:rPr dirty="0"/>
              <a:t> (ROI).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737360"/>
            <a:ext cx="5120640" cy="27597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E05A10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PROPUESTA DE VALOR COMO ENTRENADOR</a:t>
            </a:r>
          </a:p>
          <a:p>
            <a:pPr>
              <a:spcAft>
                <a:spcPts val="200"/>
              </a:spcAft>
              <a:defRPr sz="1600" b="1">
                <a:solidFill>
                  <a:srgbClr val="1A365D"/>
                </a:solidFill>
                <a:latin typeface="Georgia"/>
              </a:defRPr>
            </a:pPr>
            <a:r>
              <a:rPr dirty="0"/>
              <a:t>• Cierre de Brecha </a:t>
            </a:r>
            <a:r>
              <a:rPr dirty="0" err="1"/>
              <a:t>Teórico-Práctica</a:t>
            </a:r>
            <a:endParaRPr dirty="0"/>
          </a:p>
          <a:p>
            <a:pPr>
              <a:spcAft>
                <a:spcPts val="1200"/>
              </a:spcAft>
              <a:defRPr sz="1400">
                <a:solidFill>
                  <a:srgbClr val="1E2229"/>
                </a:solidFill>
                <a:latin typeface="Arial"/>
              </a:defRPr>
            </a:pPr>
            <a:r>
              <a:rPr dirty="0"/>
              <a:t>El </a:t>
            </a:r>
            <a:r>
              <a:rPr dirty="0" err="1"/>
              <a:t>entrenamiento</a:t>
            </a:r>
            <a:r>
              <a:rPr dirty="0"/>
              <a:t> de Camilo no es </a:t>
            </a:r>
            <a:r>
              <a:rPr dirty="0" err="1"/>
              <a:t>puramente</a:t>
            </a:r>
            <a:r>
              <a:rPr dirty="0"/>
              <a:t> </a:t>
            </a:r>
            <a:r>
              <a:rPr dirty="0" err="1"/>
              <a:t>académico</a:t>
            </a:r>
            <a:r>
              <a:rPr dirty="0"/>
              <a:t>. Al ser un </a:t>
            </a:r>
            <a:r>
              <a:rPr dirty="0" err="1"/>
              <a:t>especialista</a:t>
            </a:r>
            <a:r>
              <a:rPr dirty="0"/>
              <a:t> de campo </a:t>
            </a:r>
            <a:r>
              <a:rPr dirty="0" err="1"/>
              <a:t>activo</a:t>
            </a:r>
            <a:r>
              <a:rPr dirty="0"/>
              <a:t>, traduce </a:t>
            </a:r>
            <a:r>
              <a:rPr dirty="0" err="1"/>
              <a:t>conceptos</a:t>
            </a:r>
            <a:r>
              <a:rPr dirty="0"/>
              <a:t> </a:t>
            </a:r>
            <a:r>
              <a:rPr dirty="0" err="1"/>
              <a:t>complejos</a:t>
            </a:r>
            <a:r>
              <a:rPr dirty="0"/>
              <a:t> de </a:t>
            </a:r>
            <a:r>
              <a:rPr dirty="0" err="1"/>
              <a:t>física</a:t>
            </a:r>
            <a:r>
              <a:rPr dirty="0"/>
              <a:t> </a:t>
            </a:r>
            <a:r>
              <a:rPr dirty="0" err="1"/>
              <a:t>óptica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procedimientos</a:t>
            </a:r>
            <a:r>
              <a:rPr dirty="0"/>
              <a:t> </a:t>
            </a:r>
            <a:r>
              <a:rPr dirty="0" err="1"/>
              <a:t>sencillos</a:t>
            </a:r>
            <a:r>
              <a:rPr dirty="0"/>
              <a:t> para </a:t>
            </a:r>
            <a:r>
              <a:rPr dirty="0" err="1"/>
              <a:t>técnicos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terreno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600" b="1">
                <a:solidFill>
                  <a:srgbClr val="1A365D"/>
                </a:solidFill>
                <a:latin typeface="Georgia"/>
              </a:defRPr>
            </a:pPr>
            <a:r>
              <a:rPr dirty="0"/>
              <a:t>• </a:t>
            </a:r>
            <a:r>
              <a:rPr dirty="0" err="1"/>
              <a:t>Enfoque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Eficiencia</a:t>
            </a:r>
            <a:r>
              <a:rPr dirty="0"/>
              <a:t> de Procesos (OPEX)</a:t>
            </a:r>
          </a:p>
          <a:p>
            <a:pPr>
              <a:spcAft>
                <a:spcPts val="0"/>
              </a:spcAft>
              <a:defRPr sz="1400">
                <a:solidFill>
                  <a:srgbClr val="1E2229"/>
                </a:solidFill>
                <a:latin typeface="Arial"/>
              </a:defRPr>
            </a:pPr>
            <a:r>
              <a:rPr dirty="0"/>
              <a:t>Su </a:t>
            </a:r>
            <a:r>
              <a:rPr dirty="0" err="1"/>
              <a:t>formación</a:t>
            </a:r>
            <a:r>
              <a:rPr dirty="0"/>
              <a:t> </a:t>
            </a:r>
            <a:r>
              <a:rPr dirty="0" err="1"/>
              <a:t>ejecutiva</a:t>
            </a:r>
            <a:r>
              <a:rPr dirty="0"/>
              <a:t> y de </a:t>
            </a:r>
            <a:r>
              <a:rPr dirty="0" err="1"/>
              <a:t>mercadeo</a:t>
            </a:r>
            <a:r>
              <a:rPr dirty="0"/>
              <a:t> le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orientar</a:t>
            </a:r>
            <a:r>
              <a:rPr dirty="0"/>
              <a:t> la </a:t>
            </a:r>
            <a:r>
              <a:rPr dirty="0" err="1"/>
              <a:t>capacitación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</a:t>
            </a:r>
            <a:r>
              <a:rPr dirty="0" err="1"/>
              <a:t>metas</a:t>
            </a:r>
            <a:r>
              <a:rPr dirty="0"/>
              <a:t> </a:t>
            </a:r>
            <a:r>
              <a:rPr dirty="0" err="1"/>
              <a:t>corporativas</a:t>
            </a:r>
            <a:r>
              <a:rPr dirty="0"/>
              <a:t>: </a:t>
            </a:r>
            <a:r>
              <a:rPr dirty="0" err="1"/>
              <a:t>reducir</a:t>
            </a:r>
            <a:r>
              <a:rPr dirty="0"/>
              <a:t> la </a:t>
            </a:r>
            <a:r>
              <a:rPr dirty="0" err="1"/>
              <a:t>tasa</a:t>
            </a:r>
            <a:r>
              <a:rPr dirty="0"/>
              <a:t> de </a:t>
            </a:r>
            <a:r>
              <a:rPr dirty="0" err="1"/>
              <a:t>fallas</a:t>
            </a:r>
            <a:r>
              <a:rPr dirty="0"/>
              <a:t> </a:t>
            </a:r>
            <a:r>
              <a:rPr dirty="0" err="1"/>
              <a:t>repetidas</a:t>
            </a:r>
            <a:r>
              <a:rPr dirty="0"/>
              <a:t>, </a:t>
            </a:r>
            <a:r>
              <a:rPr dirty="0" err="1"/>
              <a:t>recortar</a:t>
            </a:r>
            <a:r>
              <a:rPr dirty="0"/>
              <a:t> </a:t>
            </a:r>
            <a:r>
              <a:rPr dirty="0" err="1"/>
              <a:t>tiempos</a:t>
            </a:r>
            <a:r>
              <a:rPr dirty="0"/>
              <a:t> de </a:t>
            </a:r>
            <a:r>
              <a:rPr dirty="0" err="1"/>
              <a:t>prueba</a:t>
            </a:r>
            <a:r>
              <a:rPr dirty="0"/>
              <a:t> y </a:t>
            </a:r>
            <a:r>
              <a:rPr dirty="0" err="1"/>
              <a:t>proteger</a:t>
            </a:r>
            <a:r>
              <a:rPr dirty="0"/>
              <a:t> la </a:t>
            </a:r>
            <a:r>
              <a:rPr dirty="0" err="1"/>
              <a:t>vida</a:t>
            </a:r>
            <a:r>
              <a:rPr dirty="0"/>
              <a:t> </a:t>
            </a:r>
            <a:r>
              <a:rPr dirty="0" err="1"/>
              <a:t>útil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costosos</a:t>
            </a:r>
            <a:r>
              <a:rPr dirty="0"/>
              <a:t> </a:t>
            </a:r>
            <a:r>
              <a:rPr dirty="0" err="1"/>
              <a:t>equipos</a:t>
            </a:r>
            <a:r>
              <a:rPr dirty="0"/>
              <a:t> de </a:t>
            </a:r>
            <a:r>
              <a:rPr dirty="0" err="1"/>
              <a:t>instrumentación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365760"/>
            <a:ext cx="10820095" cy="995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05A10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MARCAS &amp; TRAYECTORIA</a:t>
            </a:r>
          </a:p>
          <a:p>
            <a:pPr>
              <a:defRPr sz="2600" b="1">
                <a:solidFill>
                  <a:srgbClr val="1E2229"/>
                </a:solidFill>
                <a:latin typeface="Georgia"/>
              </a:defRPr>
            </a:pPr>
            <a:r>
              <a:rPr dirty="0"/>
              <a:t>Tres </a:t>
            </a:r>
            <a:r>
              <a:rPr dirty="0" err="1"/>
              <a:t>marcas</a:t>
            </a:r>
            <a:r>
              <a:rPr dirty="0"/>
              <a:t> </a:t>
            </a:r>
            <a:r>
              <a:rPr dirty="0" err="1"/>
              <a:t>globales</a:t>
            </a:r>
            <a:r>
              <a:rPr dirty="0"/>
              <a:t> </a:t>
            </a:r>
            <a:r>
              <a:rPr dirty="0" err="1"/>
              <a:t>lideran</a:t>
            </a:r>
            <a:r>
              <a:rPr dirty="0"/>
              <a:t> la </a:t>
            </a:r>
            <a:r>
              <a:rPr dirty="0" err="1"/>
              <a:t>medición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campo de la mano de un </a:t>
            </a:r>
            <a:r>
              <a:rPr dirty="0" err="1"/>
              <a:t>experto</a:t>
            </a:r>
            <a:r>
              <a:rPr dirty="0"/>
              <a:t> </a:t>
            </a:r>
            <a:r>
              <a:rPr dirty="0" err="1"/>
              <a:t>certificado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E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2F5"/>
            </a:solidFill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1A365D"/>
                </a:solidFill>
                <a:latin typeface="Arial"/>
              </a:defRPr>
            </a:pPr>
            <a:r>
              <a:rPr dirty="0"/>
              <a:t>VIAVI SOLUTIONS</a:t>
            </a:r>
          </a:p>
          <a:p>
            <a:pPr>
              <a:spcAft>
                <a:spcPts val="1200"/>
              </a:spcAft>
              <a:defRPr sz="1100" b="1">
                <a:solidFill>
                  <a:srgbClr val="E05A10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Regional con JPM Communications</a:t>
            </a:r>
          </a:p>
          <a:p>
            <a:pPr>
              <a:spcAft>
                <a:spcPts val="6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Lideró</a:t>
            </a:r>
            <a:r>
              <a:rPr dirty="0"/>
              <a:t> canales de </a:t>
            </a:r>
            <a:r>
              <a:rPr dirty="0" err="1"/>
              <a:t>venta</a:t>
            </a:r>
            <a:r>
              <a:rPr dirty="0"/>
              <a:t> y soporte regional </a:t>
            </a:r>
            <a:r>
              <a:rPr dirty="0" err="1"/>
              <a:t>en</a:t>
            </a:r>
            <a:r>
              <a:rPr dirty="0"/>
              <a:t> América Latina.</a:t>
            </a:r>
          </a:p>
          <a:p>
            <a:pPr>
              <a:spcAft>
                <a:spcPts val="6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Dirección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de </a:t>
            </a:r>
            <a:r>
              <a:rPr dirty="0" err="1"/>
              <a:t>proyectos</a:t>
            </a:r>
            <a:r>
              <a:rPr dirty="0"/>
              <a:t> de </a:t>
            </a:r>
            <a:r>
              <a:rPr dirty="0" err="1"/>
              <a:t>instrumentación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Galardonado</a:t>
            </a:r>
            <a:r>
              <a:rPr dirty="0"/>
              <a:t> con el Global Distribution Award de VIAVI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excelencia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herramientas</a:t>
            </a:r>
            <a:r>
              <a:rPr dirty="0"/>
              <a:t> de </a:t>
            </a:r>
            <a:r>
              <a:rPr dirty="0" err="1"/>
              <a:t>medición</a:t>
            </a:r>
            <a:r>
              <a:rPr dirty="0"/>
              <a:t> de HFC y Fibra </a:t>
            </a:r>
            <a:r>
              <a:rPr dirty="0" err="1"/>
              <a:t>Óptica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737360"/>
            <a:ext cx="3328416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5A10"/>
            </a:solidFill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1A365D"/>
                </a:solidFill>
                <a:latin typeface="Arial"/>
              </a:defRPr>
            </a:pPr>
            <a:r>
              <a:rPr dirty="0"/>
              <a:t>EXFO</a:t>
            </a:r>
          </a:p>
          <a:p>
            <a:pPr>
              <a:spcAft>
                <a:spcPts val="1200"/>
              </a:spcAft>
              <a:defRPr sz="1100" b="1">
                <a:solidFill>
                  <a:srgbClr val="E05A10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A </a:t>
            </a:r>
            <a:r>
              <a:rPr dirty="0" err="1">
                <a:solidFill>
                  <a:schemeClr val="tx2"/>
                </a:solidFill>
              </a:rPr>
              <a:t>nivel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nacional</a:t>
            </a:r>
            <a:r>
              <a:rPr dirty="0">
                <a:solidFill>
                  <a:schemeClr val="tx2"/>
                </a:solidFill>
              </a:rPr>
              <a:t>/regional con </a:t>
            </a:r>
            <a:r>
              <a:rPr dirty="0" err="1">
                <a:solidFill>
                  <a:schemeClr val="tx2"/>
                </a:solidFill>
              </a:rPr>
              <a:t>Instrumentación</a:t>
            </a:r>
            <a:r>
              <a:rPr dirty="0">
                <a:solidFill>
                  <a:schemeClr val="tx2"/>
                </a:solidFill>
              </a:rPr>
              <a:t> S.A.</a:t>
            </a:r>
          </a:p>
          <a:p>
            <a:pPr>
              <a:spcAft>
                <a:spcPts val="6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rPr dirty="0"/>
              <a:t>• Desarrollo de </a:t>
            </a:r>
            <a:r>
              <a:rPr dirty="0" err="1"/>
              <a:t>cuentas</a:t>
            </a:r>
            <a:r>
              <a:rPr dirty="0"/>
              <a:t> clave (KAM) y mercados para </a:t>
            </a:r>
            <a:r>
              <a:rPr dirty="0" err="1"/>
              <a:t>operadoras</a:t>
            </a:r>
            <a:r>
              <a:rPr dirty="0"/>
              <a:t> de </a:t>
            </a:r>
            <a:r>
              <a:rPr dirty="0" err="1"/>
              <a:t>telecomunicaciones</a:t>
            </a:r>
            <a:r>
              <a:rPr dirty="0"/>
              <a:t> </a:t>
            </a:r>
            <a:r>
              <a:rPr dirty="0" err="1"/>
              <a:t>colombianas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Especialista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FTTx y </a:t>
            </a:r>
            <a:r>
              <a:rPr dirty="0" err="1"/>
              <a:t>soluciones</a:t>
            </a:r>
            <a:r>
              <a:rPr dirty="0"/>
              <a:t> </a:t>
            </a:r>
            <a:r>
              <a:rPr dirty="0" err="1"/>
              <a:t>ópticas</a:t>
            </a:r>
            <a:r>
              <a:rPr dirty="0"/>
              <a:t> </a:t>
            </a:r>
            <a:r>
              <a:rPr dirty="0" err="1"/>
              <a:t>integradas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rPr dirty="0"/>
              <a:t>• Amplio </a:t>
            </a:r>
            <a:r>
              <a:rPr dirty="0" err="1"/>
              <a:t>dominio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 de </a:t>
            </a:r>
            <a:r>
              <a:rPr dirty="0" err="1"/>
              <a:t>portafolio</a:t>
            </a:r>
            <a:r>
              <a:rPr dirty="0"/>
              <a:t> EXFO, Sumitomo, Fujikura, Anritsu y </a:t>
            </a:r>
            <a:r>
              <a:rPr dirty="0" err="1"/>
              <a:t>Veex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4152" y="173736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2F5"/>
            </a:solidFill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1A365D"/>
                </a:solidFill>
                <a:latin typeface="Arial"/>
              </a:defRPr>
            </a:pPr>
            <a:r>
              <a:rPr dirty="0"/>
              <a:t>GRANDWAY</a:t>
            </a:r>
          </a:p>
          <a:p>
            <a:pPr>
              <a:spcAft>
                <a:spcPts val="1200"/>
              </a:spcAft>
              <a:defRPr sz="1100" b="1">
                <a:solidFill>
                  <a:srgbClr val="E05A10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Soporte y </a:t>
            </a:r>
            <a:r>
              <a:rPr dirty="0" err="1">
                <a:solidFill>
                  <a:schemeClr val="tx2"/>
                </a:solidFill>
              </a:rPr>
              <a:t>Pruebas</a:t>
            </a:r>
            <a:r>
              <a:rPr dirty="0">
                <a:solidFill>
                  <a:schemeClr val="tx2"/>
                </a:solidFill>
              </a:rPr>
              <a:t> con </a:t>
            </a:r>
            <a:r>
              <a:rPr dirty="0" err="1">
                <a:solidFill>
                  <a:schemeClr val="tx2"/>
                </a:solidFill>
              </a:rPr>
              <a:t>Inovatel</a:t>
            </a:r>
            <a:r>
              <a:rPr dirty="0">
                <a:solidFill>
                  <a:schemeClr val="tx2"/>
                </a:solidFill>
              </a:rPr>
              <a:t> S.A.S.</a:t>
            </a:r>
          </a:p>
          <a:p>
            <a:pPr>
              <a:spcAft>
                <a:spcPts val="6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Dirección</a:t>
            </a:r>
            <a:r>
              <a:rPr dirty="0"/>
              <a:t> de la </a:t>
            </a:r>
            <a:r>
              <a:rPr dirty="0" err="1"/>
              <a:t>división</a:t>
            </a:r>
            <a:r>
              <a:rPr dirty="0"/>
              <a:t> comercial e </a:t>
            </a:r>
            <a:r>
              <a:rPr dirty="0" err="1"/>
              <a:t>implementación</a:t>
            </a:r>
            <a:r>
              <a:rPr dirty="0"/>
              <a:t> B2B.</a:t>
            </a:r>
          </a:p>
          <a:p>
            <a:pPr>
              <a:spcAft>
                <a:spcPts val="6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rPr dirty="0"/>
              <a:t>• Desarrollo de </a:t>
            </a:r>
            <a:r>
              <a:rPr dirty="0" err="1"/>
              <a:t>portafolio</a:t>
            </a:r>
            <a:r>
              <a:rPr dirty="0"/>
              <a:t> de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ópticas</a:t>
            </a:r>
            <a:r>
              <a:rPr dirty="0"/>
              <a:t> </a:t>
            </a:r>
            <a:r>
              <a:rPr dirty="0" err="1"/>
              <a:t>portátiles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Lideró</a:t>
            </a:r>
            <a:r>
              <a:rPr dirty="0"/>
              <a:t> la </a:t>
            </a:r>
            <a:r>
              <a:rPr dirty="0" err="1"/>
              <a:t>alianza</a:t>
            </a:r>
            <a:r>
              <a:rPr dirty="0"/>
              <a:t> </a:t>
            </a:r>
            <a:r>
              <a:rPr dirty="0" err="1"/>
              <a:t>estratégica</a:t>
            </a:r>
            <a:r>
              <a:rPr dirty="0"/>
              <a:t> y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rigurosas</a:t>
            </a:r>
            <a:r>
              <a:rPr dirty="0"/>
              <a:t> de campo con </a:t>
            </a:r>
            <a:r>
              <a:rPr dirty="0" err="1"/>
              <a:t>equipos</a:t>
            </a:r>
            <a:r>
              <a:rPr dirty="0"/>
              <a:t> de </a:t>
            </a:r>
            <a:r>
              <a:rPr dirty="0" err="1"/>
              <a:t>medición</a:t>
            </a:r>
            <a:r>
              <a:rPr dirty="0"/>
              <a:t> </a:t>
            </a:r>
            <a:r>
              <a:rPr dirty="0" err="1"/>
              <a:t>Grandway</a:t>
            </a:r>
            <a:r>
              <a:rPr dirty="0"/>
              <a:t> a </a:t>
            </a:r>
            <a:r>
              <a:rPr dirty="0" err="1"/>
              <a:t>nivel</a:t>
            </a:r>
            <a:r>
              <a:rPr dirty="0"/>
              <a:t> regional.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365760"/>
            <a:ext cx="1082009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05A10"/>
                </a:solidFill>
                <a:latin typeface="Arial"/>
              </a:defRPr>
            </a:pPr>
            <a:r>
              <a:rPr dirty="0"/>
              <a:t>TECNOLOGÍA E INNOVACIÓN</a:t>
            </a:r>
          </a:p>
          <a:p>
            <a:pPr>
              <a:defRPr sz="2600" b="1">
                <a:solidFill>
                  <a:srgbClr val="1E2229"/>
                </a:solidFill>
                <a:latin typeface="Georgia"/>
              </a:defRPr>
            </a:pPr>
            <a:r>
              <a:rPr dirty="0"/>
              <a:t>El co-</a:t>
            </a:r>
            <a:r>
              <a:rPr dirty="0" err="1"/>
              <a:t>diseño</a:t>
            </a:r>
            <a:r>
              <a:rPr dirty="0"/>
              <a:t> de </a:t>
            </a:r>
            <a:r>
              <a:rPr dirty="0" err="1"/>
              <a:t>iOLM</a:t>
            </a:r>
            <a:r>
              <a:rPr dirty="0"/>
              <a:t> </a:t>
            </a:r>
            <a:r>
              <a:rPr dirty="0" err="1"/>
              <a:t>revoluciona</a:t>
            </a:r>
            <a:r>
              <a:rPr dirty="0"/>
              <a:t> el </a:t>
            </a:r>
            <a:r>
              <a:rPr dirty="0" err="1"/>
              <a:t>análisis</a:t>
            </a:r>
            <a:r>
              <a:rPr dirty="0"/>
              <a:t> de enlaces con </a:t>
            </a:r>
            <a:r>
              <a:rPr dirty="0" err="1"/>
              <a:t>mapeo</a:t>
            </a:r>
            <a:r>
              <a:rPr dirty="0"/>
              <a:t> </a:t>
            </a:r>
            <a:r>
              <a:rPr dirty="0" err="1"/>
              <a:t>inteligente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E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5120640" cy="4297680"/>
          </a:xfrm>
          <a:prstGeom prst="roundRect">
            <a:avLst/>
          </a:prstGeom>
          <a:solidFill>
            <a:srgbClr val="F1F2F5"/>
          </a:solidFill>
          <a:ln>
            <a:noFill/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646E7D"/>
                </a:solidFill>
                <a:latin typeface="Arial"/>
              </a:defRPr>
            </a:pPr>
            <a:r>
              <a:t>OTDR TRADICIONAL</a:t>
            </a:r>
          </a:p>
          <a:p>
            <a:pPr>
              <a:spcAft>
                <a:spcPts val="8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t>✗ Requiere parametrización manual compleja de anchos de pulso, tiempo de adquisición y rangos de distancia.</a:t>
            </a:r>
          </a:p>
          <a:p>
            <a:pPr>
              <a:spcAft>
                <a:spcPts val="8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t>✗ El resultado es una gráfica de retrodispersión (trazas) difícil de comprender para técnicos no especializados.</a:t>
            </a:r>
          </a:p>
          <a:p>
            <a:pPr>
              <a:spcAft>
                <a:spcPts val="8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t>✗ Alto riesgo de error humano al omitir eventos cercanos (zonas muertas) o malinterpretar ecos/fantasmas.</a:t>
            </a:r>
          </a:p>
          <a:p>
            <a:pPr>
              <a:spcAft>
                <a:spcPts val="8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t>✗ Largas horas invertidas en oficina analizando trazas de fibra y generando reportes de forma manual.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737360"/>
            <a:ext cx="51206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5A10"/>
            </a:solidFill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E05A10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EL CO-DISEÑO DE </a:t>
            </a:r>
            <a:r>
              <a:rPr dirty="0" err="1">
                <a:solidFill>
                  <a:schemeClr val="tx2"/>
                </a:solidFill>
              </a:rPr>
              <a:t>iOLM</a:t>
            </a:r>
            <a:r>
              <a:rPr dirty="0">
                <a:solidFill>
                  <a:schemeClr val="tx2"/>
                </a:solidFill>
              </a:rPr>
              <a:t> CON EXFO</a:t>
            </a:r>
          </a:p>
          <a:p>
            <a:pPr>
              <a:spcAft>
                <a:spcPts val="6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rPr dirty="0"/>
              <a:t>✓ Co-</a:t>
            </a:r>
            <a:r>
              <a:rPr dirty="0" err="1"/>
              <a:t>diseñado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Camilo Restrepo junto con Jimmy Gagnon (</a:t>
            </a:r>
            <a:r>
              <a:rPr dirty="0" err="1"/>
              <a:t>Líder</a:t>
            </a:r>
            <a:r>
              <a:rPr dirty="0"/>
              <a:t> de </a:t>
            </a:r>
            <a:r>
              <a:rPr dirty="0" err="1"/>
              <a:t>Producto</a:t>
            </a:r>
            <a:r>
              <a:rPr dirty="0"/>
              <a:t> de OTDR </a:t>
            </a:r>
            <a:r>
              <a:rPr dirty="0" err="1"/>
              <a:t>en</a:t>
            </a:r>
            <a:r>
              <a:rPr dirty="0"/>
              <a:t> EXFO) para </a:t>
            </a:r>
            <a:r>
              <a:rPr dirty="0" err="1"/>
              <a:t>redefinir</a:t>
            </a:r>
            <a:r>
              <a:rPr dirty="0"/>
              <a:t> las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campo.</a:t>
            </a:r>
          </a:p>
          <a:p>
            <a:pPr>
              <a:spcAft>
                <a:spcPts val="6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rPr dirty="0"/>
              <a:t>✓ </a:t>
            </a:r>
            <a:r>
              <a:rPr dirty="0" err="1"/>
              <a:t>Reemplaza</a:t>
            </a:r>
            <a:r>
              <a:rPr dirty="0"/>
              <a:t> </a:t>
            </a:r>
            <a:r>
              <a:rPr dirty="0" err="1"/>
              <a:t>trazas</a:t>
            </a:r>
            <a:r>
              <a:rPr dirty="0"/>
              <a:t> </a:t>
            </a:r>
            <a:r>
              <a:rPr dirty="0" err="1"/>
              <a:t>complejas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un </a:t>
            </a:r>
            <a:r>
              <a:rPr dirty="0" err="1"/>
              <a:t>mapeo</a:t>
            </a:r>
            <a:r>
              <a:rPr dirty="0"/>
              <a:t> de enlace </a:t>
            </a:r>
            <a:r>
              <a:rPr dirty="0" err="1"/>
              <a:t>inteligente</a:t>
            </a:r>
            <a:r>
              <a:rPr dirty="0"/>
              <a:t> </a:t>
            </a:r>
            <a:r>
              <a:rPr dirty="0" err="1"/>
              <a:t>basado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iconos</a:t>
            </a:r>
            <a:r>
              <a:rPr dirty="0"/>
              <a:t> </a:t>
            </a:r>
            <a:r>
              <a:rPr dirty="0" err="1"/>
              <a:t>fáciles</a:t>
            </a:r>
            <a:r>
              <a:rPr dirty="0"/>
              <a:t> de </a:t>
            </a:r>
            <a:r>
              <a:rPr dirty="0" err="1"/>
              <a:t>interpretar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rPr dirty="0"/>
              <a:t>✓ </a:t>
            </a:r>
            <a:r>
              <a:rPr dirty="0" err="1"/>
              <a:t>Algoritmos</a:t>
            </a:r>
            <a:r>
              <a:rPr dirty="0"/>
              <a:t> </a:t>
            </a:r>
            <a:r>
              <a:rPr dirty="0" err="1"/>
              <a:t>multifrecuencia</a:t>
            </a:r>
            <a:r>
              <a:rPr dirty="0"/>
              <a:t> y </a:t>
            </a:r>
            <a:r>
              <a:rPr dirty="0" err="1"/>
              <a:t>dinámicos</a:t>
            </a:r>
            <a:r>
              <a:rPr dirty="0"/>
              <a:t> </a:t>
            </a:r>
            <a:r>
              <a:rPr dirty="0" err="1"/>
              <a:t>adquieren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anchos</a:t>
            </a:r>
            <a:r>
              <a:rPr dirty="0"/>
              <a:t> de </a:t>
            </a:r>
            <a:r>
              <a:rPr dirty="0" err="1"/>
              <a:t>pulso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solo </a:t>
            </a:r>
            <a:r>
              <a:rPr dirty="0" err="1"/>
              <a:t>botón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rPr dirty="0"/>
              <a:t>✓ </a:t>
            </a:r>
            <a:r>
              <a:rPr dirty="0" err="1"/>
              <a:t>Elimina</a:t>
            </a:r>
            <a:r>
              <a:rPr dirty="0"/>
              <a:t> la </a:t>
            </a:r>
            <a:r>
              <a:rPr dirty="0" err="1"/>
              <a:t>necesidad</a:t>
            </a:r>
            <a:r>
              <a:rPr dirty="0"/>
              <a:t> de </a:t>
            </a:r>
            <a:r>
              <a:rPr dirty="0" err="1"/>
              <a:t>interpretar</a:t>
            </a:r>
            <a:r>
              <a:rPr dirty="0"/>
              <a:t> </a:t>
            </a:r>
            <a:r>
              <a:rPr dirty="0" err="1"/>
              <a:t>trazas</a:t>
            </a:r>
            <a:r>
              <a:rPr dirty="0"/>
              <a:t> </a:t>
            </a:r>
            <a:r>
              <a:rPr dirty="0" err="1"/>
              <a:t>complejas</a:t>
            </a:r>
            <a:r>
              <a:rPr dirty="0"/>
              <a:t> de OTDR, </a:t>
            </a:r>
            <a:r>
              <a:rPr dirty="0" err="1"/>
              <a:t>logrando</a:t>
            </a:r>
            <a:r>
              <a:rPr dirty="0"/>
              <a:t> </a:t>
            </a:r>
            <a:r>
              <a:rPr dirty="0" err="1"/>
              <a:t>pruebas</a:t>
            </a:r>
            <a:r>
              <a:rPr dirty="0"/>
              <a:t> 100% </a:t>
            </a:r>
            <a:r>
              <a:rPr dirty="0" err="1"/>
              <a:t>confiables</a:t>
            </a:r>
            <a:r>
              <a:rPr dirty="0"/>
              <a:t> y sin </a:t>
            </a:r>
            <a:r>
              <a:rPr dirty="0" err="1"/>
              <a:t>errores</a:t>
            </a:r>
            <a:r>
              <a:rPr dirty="0"/>
              <a:t> </a:t>
            </a:r>
            <a:r>
              <a:rPr dirty="0" err="1"/>
              <a:t>humanos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150">
                <a:solidFill>
                  <a:srgbClr val="1E2229"/>
                </a:solidFill>
                <a:latin typeface="Arial"/>
              </a:defRPr>
            </a:pPr>
            <a:r>
              <a:rPr dirty="0"/>
              <a:t>✓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inmediatos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reducen</a:t>
            </a:r>
            <a:r>
              <a:rPr dirty="0"/>
              <a:t> </a:t>
            </a:r>
            <a:r>
              <a:rPr dirty="0" err="1"/>
              <a:t>radicalmente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costos</a:t>
            </a:r>
            <a:r>
              <a:rPr dirty="0"/>
              <a:t> de post-</a:t>
            </a:r>
            <a:r>
              <a:rPr dirty="0" err="1"/>
              <a:t>procesamiento</a:t>
            </a:r>
            <a:r>
              <a:rPr dirty="0"/>
              <a:t> e </a:t>
            </a:r>
            <a:r>
              <a:rPr dirty="0" err="1"/>
              <a:t>informes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365760"/>
            <a:ext cx="1082009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05A10"/>
                </a:solidFill>
                <a:latin typeface="Arial"/>
              </a:defRPr>
            </a:pPr>
            <a:r>
              <a:t>LEGADO ACADÉMICO</a:t>
            </a:r>
          </a:p>
          <a:p>
            <a:pPr>
              <a:defRPr sz="2600" b="1">
                <a:solidFill>
                  <a:srgbClr val="1E2229"/>
                </a:solidFill>
                <a:latin typeface="Georgia"/>
              </a:defRPr>
            </a:pPr>
            <a:r>
              <a:t>Más de 40 cursos especializados y 150 graduados en la UPB consolidan un legado pedagógico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E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4114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1F2F5"/>
            </a:solidFill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5400" b="1">
                <a:solidFill>
                  <a:srgbClr val="E05A10"/>
                </a:solidFill>
                <a:latin typeface="Georgia"/>
              </a:defRPr>
            </a:pPr>
            <a:r>
              <a:t>40+</a:t>
            </a:r>
          </a:p>
          <a:p>
            <a:pPr>
              <a:defRPr sz="1100" b="1">
                <a:solidFill>
                  <a:srgbClr val="1A365D"/>
                </a:solidFill>
                <a:latin typeface="Arial"/>
              </a:defRPr>
            </a:pPr>
            <a:r>
              <a:t>CURSOS DE FIBRA ÓPTICA DICTADOS REGIONALMENTE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31920"/>
            <a:ext cx="4114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1F2F5"/>
            </a:solidFill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defRPr sz="5400" b="1">
                <a:solidFill>
                  <a:srgbClr val="1A365D"/>
                </a:solidFill>
                <a:latin typeface="Georgia"/>
              </a:defRPr>
            </a:pPr>
            <a:r>
              <a:t>150+</a:t>
            </a:r>
          </a:p>
          <a:p>
            <a:pPr>
              <a:defRPr sz="1100" b="1">
                <a:solidFill>
                  <a:srgbClr val="E05A10"/>
                </a:solidFill>
                <a:latin typeface="Arial"/>
              </a:defRPr>
            </a:pPr>
            <a:r>
              <a:t>PROFESIONALES EGRESADOS DE DIPLOMADO (UPB)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737360"/>
            <a:ext cx="6382512" cy="4114800"/>
          </a:xfrm>
          <a:prstGeom prst="roundRect">
            <a:avLst/>
          </a:prstGeom>
          <a:solidFill>
            <a:srgbClr val="F1F2F5"/>
          </a:solidFill>
          <a:ln>
            <a:noFill/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MÉTODO PEDAGÓGICO DE ALTO RENDIMIENTO EN LA UPB</a:t>
            </a:r>
          </a:p>
          <a:p>
            <a:pPr>
              <a:spcAft>
                <a:spcPts val="1000"/>
              </a:spcAft>
              <a:defRPr sz="1300">
                <a:solidFill>
                  <a:srgbClr val="1E2229"/>
                </a:solidFill>
                <a:latin typeface="Arial"/>
              </a:defRPr>
            </a:pPr>
            <a:r>
              <a:t>• Diseño instruccional de diplomados y cursos especializados enfocados en las exigencias del mercado real.</a:t>
            </a:r>
          </a:p>
          <a:p>
            <a:pPr>
              <a:spcAft>
                <a:spcPts val="1000"/>
              </a:spcAft>
              <a:defRPr sz="1300">
                <a:solidFill>
                  <a:srgbClr val="1E2229"/>
                </a:solidFill>
                <a:latin typeface="Arial"/>
              </a:defRPr>
            </a:pPr>
            <a:r>
              <a:t>• Formación de instructores y desarrollo de personal técnico ('Staff Training &amp; Development') para grandes operadores de telecomunicaciones de Colombia y América Latina.</a:t>
            </a:r>
          </a:p>
          <a:p>
            <a:pPr>
              <a:spcAft>
                <a:spcPts val="1000"/>
              </a:spcAft>
              <a:defRPr sz="1300">
                <a:solidFill>
                  <a:srgbClr val="1E2229"/>
                </a:solidFill>
                <a:latin typeface="Arial"/>
              </a:defRPr>
            </a:pPr>
            <a:r>
              <a:t>• Metodología 70/20/10: Prioriza el aprendizaje basado en la práctica directa de campo (70% talleres de medición y empalme, 20% mentoría de incidentes, 10% bases teóricas).</a:t>
            </a:r>
          </a:p>
          <a:p>
            <a:pPr>
              <a:spcAft>
                <a:spcPts val="1000"/>
              </a:spcAft>
              <a:defRPr sz="1300">
                <a:solidFill>
                  <a:srgbClr val="1E2229"/>
                </a:solidFill>
                <a:latin typeface="Arial"/>
              </a:defRPr>
            </a:pPr>
            <a:r>
              <a:t>• Capacitación rigurosa orientada al cumplimiento de normas y estándares de telecomunicaciones internacionales (ITU-T, IEC, ANSI/TIA).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365760"/>
            <a:ext cx="1082009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05A10"/>
                </a:solidFill>
                <a:latin typeface="Arial"/>
              </a:defRPr>
            </a:pPr>
            <a:r>
              <a:t>PORTAFOLIO TÉCNICO</a:t>
            </a:r>
          </a:p>
          <a:p>
            <a:pPr>
              <a:defRPr sz="2600" b="1">
                <a:solidFill>
                  <a:srgbClr val="1E2229"/>
                </a:solidFill>
                <a:latin typeface="Georgia"/>
              </a:defRPr>
            </a:pPr>
            <a:r>
              <a:t>Seis programas clave transfieren conocimiento técnico directamente a la operación de campo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E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32841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2F5"/>
            </a:solidFill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1. Empalme y Conectorización</a:t>
            </a:r>
          </a:p>
          <a:p>
            <a:pPr>
              <a:defRPr sz="1050">
                <a:solidFill>
                  <a:srgbClr val="1E2229"/>
                </a:solidFill>
                <a:latin typeface="Arial"/>
              </a:defRPr>
            </a:pPr>
            <a:r>
              <a:t>Fundamentos de empalme por fusión (fusión núcleo/revestimiento), pulido de conectores y mejores prácticas para minimizar IL y RL.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737360"/>
            <a:ext cx="332841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2F5"/>
            </a:solidFill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2. Instrumentación Avanzada</a:t>
            </a:r>
          </a:p>
          <a:p>
            <a:pPr>
              <a:defRPr sz="1050">
                <a:solidFill>
                  <a:srgbClr val="1E2229"/>
                </a:solidFill>
                <a:latin typeface="Arial"/>
              </a:defRPr>
            </a:pPr>
            <a:r>
              <a:t>Inspección de conectores bajo norma IEC 61300-3-35, microscopía digital, fuentes de luz (OLS) y medidores de potencia óptica (OPM).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4152" y="1737360"/>
            <a:ext cx="332841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2F5"/>
            </a:solidFill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3. Pruebas de OTDR</a:t>
            </a:r>
          </a:p>
          <a:p>
            <a:pPr>
              <a:defRPr sz="1050">
                <a:solidFill>
                  <a:srgbClr val="1E2229"/>
                </a:solidFill>
                <a:latin typeface="Arial"/>
              </a:defRPr>
            </a:pPr>
            <a:r>
              <a:t>Configuración técnica de anchos de pulso, umbrales de pérdida, zonas muertas de evento/atenuación y post-procesamiento de trazas ópticas.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31920"/>
            <a:ext cx="3328416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5A10"/>
            </a:solidFill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4. Mapeo Inteligente (iOLM)</a:t>
            </a:r>
          </a:p>
          <a:p>
            <a:pPr>
              <a:defRPr sz="1050">
                <a:solidFill>
                  <a:srgbClr val="1E2229"/>
                </a:solidFill>
                <a:latin typeface="Arial"/>
              </a:defRPr>
            </a:pPr>
            <a:r>
              <a:t>Entrenamiento avanzado en tecnología iOLM de EXFO: automatización multifrecuencia, diagnóstico rápido de enlaces y generación de reportes.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3931920"/>
            <a:ext cx="332841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2F5"/>
            </a:solidFill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5. Diseño y Pruebas FTTx</a:t>
            </a:r>
          </a:p>
          <a:p>
            <a:pPr>
              <a:defRPr sz="1050">
                <a:solidFill>
                  <a:srgbClr val="1E2229"/>
                </a:solidFill>
                <a:latin typeface="Arial"/>
              </a:defRPr>
            </a:pPr>
            <a:r>
              <a:t>Estructura de redes ópticas pasivas (GPON), cálculo de presupuesto de potencia (Power Budget), balance de splitters e instrumentación PON.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4152" y="3931920"/>
            <a:ext cx="332841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2F5"/>
            </a:solidFill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6. Localización de Fallas</a:t>
            </a:r>
          </a:p>
          <a:p>
            <a:pPr>
              <a:defRPr sz="1050">
                <a:solidFill>
                  <a:srgbClr val="1E2229"/>
                </a:solidFill>
                <a:latin typeface="Arial"/>
              </a:defRPr>
            </a:pPr>
            <a:r>
              <a:t>Auditoría de campo acelerada: detección rápida de macrocurvaturas, conectores dañados, atenuación excesiva y rotura física de hilos ópticos.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365760"/>
            <a:ext cx="1082009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05A10"/>
                </a:solidFill>
                <a:latin typeface="Arial"/>
              </a:defRPr>
            </a:pPr>
            <a:r>
              <a:t>GARANTÍAS DEL ENTRENAMIENTO</a:t>
            </a:r>
          </a:p>
          <a:p>
            <a:pPr>
              <a:defRPr sz="2600" b="1">
                <a:solidFill>
                  <a:srgbClr val="1E2229"/>
                </a:solidFill>
                <a:latin typeface="Georgia"/>
              </a:defRPr>
            </a:pPr>
            <a:r>
              <a:t>Tres compromisos clave elevan la eficiencia y reducen errores en su operación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20095" cy="25400"/>
          </a:xfrm>
          <a:prstGeom prst="rect">
            <a:avLst/>
          </a:prstGeom>
          <a:solidFill>
            <a:srgbClr val="E05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1F2F5"/>
            </a:solidFill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200"/>
              </a:spcAft>
              <a:defRPr sz="4000" b="1">
                <a:solidFill>
                  <a:srgbClr val="E05A10"/>
                </a:solidFill>
                <a:latin typeface="Georgia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300" b="1">
                <a:solidFill>
                  <a:srgbClr val="1A365D"/>
                </a:solidFill>
                <a:latin typeface="Arial"/>
              </a:defRPr>
            </a:pPr>
            <a:r>
              <a:t>CERO ERRORES DE INTERPRETACIÓN</a:t>
            </a:r>
          </a:p>
          <a:p>
            <a:pPr>
              <a:defRPr sz="1100">
                <a:solidFill>
                  <a:srgbClr val="1E2229"/>
                </a:solidFill>
                <a:latin typeface="Arial"/>
              </a:defRPr>
            </a:pPr>
            <a:r>
              <a:t>El personal técnico de su empresa dominará no solo el mapeo de bloques (iOLM) sino también la física del enlace óptico en trazas (OTDR). Esto elimina diagnósticos falsos y reprocesos innecesarios en campo, optimizando el tiempo de respuesta del contratista.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1F2F5"/>
            </a:solidFill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200"/>
              </a:spcAft>
              <a:defRPr sz="4000" b="1">
                <a:solidFill>
                  <a:srgbClr val="E05A10"/>
                </a:solidFill>
                <a:latin typeface="Georgia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300" b="1">
                <a:solidFill>
                  <a:srgbClr val="1A365D"/>
                </a:solidFill>
                <a:latin typeface="Arial"/>
              </a:defRPr>
            </a:pPr>
            <a:r>
              <a:t>TIEMPOS DE PRUEBA 30% MÁS RÁPIDOS</a:t>
            </a:r>
          </a:p>
          <a:p>
            <a:pPr>
              <a:defRPr sz="1100">
                <a:solidFill>
                  <a:srgbClr val="1E2229"/>
                </a:solidFill>
                <a:latin typeface="Arial"/>
              </a:defRPr>
            </a:pPr>
            <a:r>
              <a:t>Capacitación en automatización de flujos de prueba y creación de plantillas de medición. Al unificar criterios y estandarizar umbrales, los operarios pueden realizar mediciones eficientes y cargar reportes de certificación de manera instantánea.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4152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1F2F5"/>
            </a:solidFill>
          </a:ln>
          <a:effectLst>
            <a:outerShdw blurRad="4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200"/>
              </a:spcAft>
              <a:defRPr sz="4000" b="1">
                <a:solidFill>
                  <a:srgbClr val="E05A10"/>
                </a:solidFill>
                <a:latin typeface="Georgia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300" b="1">
                <a:solidFill>
                  <a:srgbClr val="1A365D"/>
                </a:solidFill>
                <a:latin typeface="Arial"/>
              </a:defRPr>
            </a:pPr>
            <a:r>
              <a:t>PROTECCIÓN DE ACTIVOS OPTICOS</a:t>
            </a:r>
          </a:p>
          <a:p>
            <a:pPr>
              <a:defRPr sz="1100">
                <a:solidFill>
                  <a:srgbClr val="1E2229"/>
                </a:solidFill>
                <a:latin typeface="Arial"/>
              </a:defRPr>
            </a:pPr>
            <a:r>
              <a:t>Un conector óptico sucio es responsable del 85% de las fallas de enlace y de daños graves en el puerto físico del OTDR. El entrenamiento incluye el protocolo estricto de Inspección y Limpieza que protege sus millonarios equipos de medición.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1770</Words>
  <Application>Microsoft Office PowerPoint</Application>
  <PresentationFormat>Panorámica</PresentationFormat>
  <Paragraphs>114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Camilo Restrepo</cp:lastModifiedBy>
  <cp:revision>2</cp:revision>
  <dcterms:created xsi:type="dcterms:W3CDTF">2013-01-27T09:14:16Z</dcterms:created>
  <dcterms:modified xsi:type="dcterms:W3CDTF">2026-08-26T13:51:33Z</dcterms:modified>
  <cp:category/>
</cp:coreProperties>
</file>